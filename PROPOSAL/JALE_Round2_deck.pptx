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JA·LE — Catch a fraud ring before it is finished forming.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E86AB"/>
                </a:solidFill>
              </a:defRPr>
            </a:pPr>
            <a:r>
              <a:t>TVS Credit EPIC 8.0 · Problem (e)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4342B"/>
                </a:solidFill>
              </a:defRPr>
            </a:pPr>
            <a:r>
              <a:t>Swarm Intelligence Lending Network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Other teams will tell you a fraud ring exists.</a:t>
            </a:r>
          </a:p>
          <a:p>
            <a:pPr>
              <a:spcAft>
                <a:spcPts val="1000"/>
              </a:spcAft>
              <a:defRPr sz="2200" b="1">
                <a:solidFill>
                  <a:srgbClr val="14342B"/>
                </a:solidFill>
              </a:defRPr>
            </a:pPr>
            <a:r>
              <a:t>JA·LE tells you ~7 months earlier that one is about to form, names the one cheap link that breaks it, and proves that blocking the dealer does nothing.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Median 204-day lead time · Zero false alarms at the strict operating point · Every number regenerable in 30 seconds.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Pipeline reruns in ~30 s  ·  Synthetic + public data  ·  Every chart traceable to a committed 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fraud war TVS fights is a lending war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E86AB"/>
                </a:solidFill>
              </a:defRPr>
            </a:pPr>
            <a:r>
              <a:t>[PUBLIC]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4342B"/>
                </a:solidFill>
              </a:defRPr>
            </a:pPr>
            <a:r>
              <a:t>Lending fraud = ₹40,774 cr = 85% of all reported fraud (FY26)</a:t>
            </a:r>
          </a:p>
          <a:p>
            <a:pPr>
              <a:spcAft>
                <a:spcPts val="1000"/>
              </a:spcAft>
              <a:defRPr sz="1600"/>
            </a:pPr>
            <a:r>
              <a:t>Card / internet fraud: ₹29 cr. The real threat is in advances.</a:t>
            </a:r>
          </a:p>
          <a:p>
            <a:pPr>
              <a:spcAft>
                <a:spcPts val="1000"/>
              </a:spcAft>
              <a:defRPr sz="1600"/>
            </a:pPr>
            <a:r>
              <a:t>And each case is getting bigger: +118% severity per case in 2 years (₹2.17 cr → ₹3.83 cr → ₹4.72 cr per case).</a:t>
            </a:r>
          </a:p>
          <a:p>
            <a:pPr>
              <a:spcAft>
                <a:spcPts val="1000"/>
              </a:spcAft>
              <a:defRPr sz="1600"/>
            </a:pPr>
            <a:r>
              <a:t>Source: RBI Annual Report 2025-26.</a:t>
            </a:r>
          </a:p>
        </p:txBody>
      </p:sp>
      <p:pic>
        <p:nvPicPr>
          <p:cNvPr id="6" name="Picture 5" descr="g6_rb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394960" cy="18953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[PUBLIC] RBI AR 2025-26  ·  derived severity/case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How a fraud ring actually gets filed at TVS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E86AB"/>
                </a:solidFill>
              </a:defRPr>
            </a:pPr>
            <a:r>
              <a:t>[PUBLIC]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342B"/>
                </a:solidFill>
              </a:defRPr>
            </a:pPr>
            <a:r>
              <a:t>No single application looks suspicious. The ring lives between records.</a:t>
            </a:r>
          </a:p>
          <a:p>
            <a:pPr>
              <a:spcAft>
                <a:spcPts val="1000"/>
              </a:spcAft>
              <a:defRPr sz="1400"/>
            </a:pPr>
            <a:r>
              <a:t>Dealer-sourced journey: lead → KYC → documents → underwriting → disbursal → EMI.</a:t>
            </a:r>
          </a:p>
          <a:p>
            <a:pPr>
              <a:spcAft>
                <a:spcPts val="1000"/>
              </a:spcAft>
              <a:defRPr sz="1400"/>
            </a:pPr>
          </a:p>
          <a:p>
            <a:pPr>
              <a:spcAft>
                <a:spcPts val="1000"/>
              </a:spcAft>
              <a:defRPr sz="1400"/>
            </a:pPr>
            <a:r>
              <a:t>Real ring cases that have hurt NBFCs:</a:t>
            </a:r>
          </a:p>
          <a:p>
            <a:pPr>
              <a:spcAft>
                <a:spcPts val="1000"/>
              </a:spcAft>
              <a:defRPr sz="1400"/>
            </a:pPr>
            <a:r>
              <a:t>   • Mahindra Finance: ~₹150 cr, ~2,000 ghost customers, forged KYC</a:t>
            </a:r>
          </a:p>
          <a:p>
            <a:pPr>
              <a:spcAft>
                <a:spcPts val="1000"/>
              </a:spcAft>
              <a:defRPr sz="1400"/>
            </a:pPr>
            <a:r>
              <a:t>   • Video-KYC abuse: 35 bikes financed on fabricated papers</a:t>
            </a:r>
          </a:p>
          <a:p>
            <a:pPr>
              <a:spcAft>
                <a:spcPts val="1000"/>
              </a:spcAft>
              <a:defRPr sz="1400"/>
            </a:pPr>
            <a:r>
              <a:t>   • Branch-staff collusion with fabricated invoices</a:t>
            </a:r>
          </a:p>
          <a:p>
            <a:pPr>
              <a:spcAft>
                <a:spcPts val="1000"/>
              </a:spcAft>
              <a:defRPr sz="1400"/>
            </a:pPr>
          </a:p>
          <a:p>
            <a:pPr>
              <a:spcAft>
                <a:spcPts val="1000"/>
              </a:spcAft>
              <a:defRPr sz="1400"/>
            </a:pPr>
            <a:r>
              <a:t>Retailer reality: a DSR (Dealer Sales Rep) enters customer details into the dealer portal. In rural Tier-3/4 areas with poor connectivity, video-KYC gaps and off-book guarantor arrangements create the blind spots fraud rings exploit — without the dealer's knowledge.</a:t>
            </a:r>
          </a:p>
          <a:p>
            <a:pPr>
              <a:spcAft>
                <a:spcPts val="1000"/>
              </a:spcAft>
              <a:defRPr sz="1400"/>
            </a:pPr>
          </a:p>
          <a:p>
            <a:pPr>
              <a:spcAft>
                <a:spcPts val="1000"/>
              </a:spcAft>
              <a:defRPr sz="1400"/>
            </a:pPr>
            <a:r>
              <a:t>By the time a ring is dense enough to flag, the money is usually already disbursed.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[PUBLIC] Mahindra Finance (BS/IE/ET Apr-2024) · TOI Jan-2024, Apr-2025 · retailer journey insight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generic answer — and why it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4342B"/>
                </a:solidFill>
              </a:defRPr>
            </a:pPr>
            <a:r>
              <a:t>Ask any AI tool for a fraud-ring solution and you get the same three boxes:</a:t>
            </a:r>
          </a:p>
          <a:p>
            <a:pPr>
              <a:spcAft>
                <a:spcPts val="1000"/>
              </a:spcAft>
              <a:defRPr sz="1600"/>
            </a:pPr>
            <a:r>
              <a:t>Graph + GNN + red-dot dashboard. ~400 teams will show variants of this.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Its two failures:</a:t>
            </a:r>
          </a:p>
          <a:p>
            <a:pPr>
              <a:spcAft>
                <a:spcPts val="1000"/>
              </a:spcAft>
              <a:defRPr sz="1600"/>
            </a:pPr>
            <a:r>
              <a:t>   1. LATE — by the time a ring is dense enough to detect, the money is already gone.</a:t>
            </a:r>
          </a:p>
          <a:p>
            <a:pPr>
              <a:spcAft>
                <a:spcPts val="1000"/>
              </a:spcAft>
              <a:defRPr sz="1600"/>
            </a:pPr>
            <a:r>
              <a:t>   2. ACCUSATORY — it blames the most-connected node (a busy dealer, a village shop-phone), punishing genuine rural customers.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2000" b="1">
                <a:solidFill>
                  <a:srgbClr val="14342B"/>
                </a:solidFill>
              </a:defRPr>
            </a:pPr>
            <a:r>
              <a:t>We ask a different question:</a:t>
            </a:r>
          </a:p>
          <a:p>
            <a:pPr>
              <a:spcAft>
                <a:spcPts val="1000"/>
              </a:spcAft>
              <a:defRPr sz="1600"/>
            </a:pPr>
            <a:r>
              <a:t>Which ecosystem is about to form? What is the one cheap link that causally breaks it? And why does blocking the dealer change nothing?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we built — five layers, one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342B"/>
                </a:solidFill>
              </a:defRPr>
            </a:pPr>
            <a:r>
              <a:t>Data → Link records → Score clusters → Explain → Decide</a:t>
            </a:r>
          </a:p>
          <a:p>
            <a:pPr>
              <a:spcAft>
                <a:spcPts val="1000"/>
              </a:spcAft>
              <a:defRPr sz="1400"/>
            </a:pPr>
          </a:p>
          <a:p>
            <a:pPr>
              <a:spcAft>
                <a:spcPts val="1000"/>
              </a:spcAft>
              <a:defRPr sz="1400"/>
            </a:pPr>
            <a:r>
              <a:t>L1  Entity Resolution — probabilistic identity linkage (Fellegi–Sunter, no labels, EM-derived threshold).</a:t>
            </a:r>
          </a:p>
          <a:p>
            <a:pPr>
              <a:spcAft>
                <a:spcPts val="1000"/>
              </a:spcAft>
              <a:defRPr sz="1400"/>
            </a:pPr>
            <a:r>
              <a:t>L2  Heterogeneous Graph — 5 relations: device / account / person / guarantor / dealer as sparse incidence matrices.</a:t>
            </a:r>
          </a:p>
          <a:p>
            <a:pPr>
              <a:spcAft>
                <a:spcPts val="1000"/>
              </a:spcAft>
              <a:defRPr sz="1400"/>
            </a:pPr>
            <a:r>
              <a:t>L3  Application Scoring — 86 features + gradient-boosted trees, ring-disjoint cross-validation.</a:t>
            </a:r>
          </a:p>
          <a:p>
            <a:pPr>
              <a:spcAft>
                <a:spcPts val="1000"/>
              </a:spcAft>
              <a:defRPr sz="1400"/>
            </a:pPr>
            <a:r>
              <a:t>L4  Ring-Level Scoring — score the cluster, not the person. Fixed structural formula, zero learned weights.</a:t>
            </a:r>
          </a:p>
          <a:p>
            <a:pPr>
              <a:spcAft>
                <a:spcPts val="1000"/>
              </a:spcAft>
              <a:defRPr sz="1400"/>
            </a:pPr>
            <a:r>
              <a:t>L5  Explanation — every flag ships an evidence case-file an analyst can check against the loan file.</a:t>
            </a:r>
          </a:p>
          <a:p>
            <a:pPr>
              <a:spcAft>
                <a:spcPts val="1000"/>
              </a:spcAft>
              <a:defRPr sz="1400"/>
            </a:pPr>
          </a:p>
          <a:p>
            <a:pPr>
              <a:spcAft>
                <a:spcPts val="1000"/>
              </a:spcAft>
              <a:defRPr sz="1800" b="1">
                <a:solidFill>
                  <a:srgbClr val="14342B"/>
                </a:solidFill>
              </a:defRPr>
            </a:pPr>
            <a:r>
              <a:t>Synthetic + public data · ~30 s to rerun · every number traceable to a script.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Demo: jale_demo.html (single self-contained file)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we measure — the receipt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E86AB"/>
                </a:solidFill>
              </a:defRPr>
            </a:pPr>
            <a:r>
              <a:t>[COLAB]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4342B"/>
                </a:solidFill>
              </a:defRPr>
            </a:pPr>
            <a:r>
              <a:t>Ring-detection AUCPR: 0.754  (20× lift over random)</a:t>
            </a:r>
          </a:p>
          <a:p>
            <a:pPr>
              <a:spcAft>
                <a:spcPts val="1000"/>
              </a:spcAft>
              <a:defRPr sz="1500"/>
            </a:pPr>
            <a:r>
              <a:t>   • Honest range with nested CV: 0.68 – 0.75</a:t>
            </a:r>
          </a:p>
          <a:p>
            <a:pPr>
              <a:spcAft>
                <a:spcPts val="1000"/>
              </a:spcAft>
              <a:defRPr sz="1500"/>
            </a:pPr>
            <a:r>
              <a:t>   • GraphSAGE GNN on the SAME folds &amp; features: 0.688</a:t>
            </a:r>
          </a:p>
          <a:p>
            <a:pPr>
              <a:spcAft>
                <a:spcPts val="1000"/>
              </a:spcAft>
              <a:defRPr sz="1500"/>
            </a:pPr>
            <a:r>
              <a:t>   • Best single column alone: 0.233 (6.2×) — our honest floor</a:t>
            </a:r>
          </a:p>
          <a:p>
            <a:pPr>
              <a:spcAft>
                <a:spcPts val="1000"/>
              </a:spcAft>
              <a:defRPr sz="1500"/>
            </a:pPr>
          </a:p>
          <a:p>
            <a:pPr>
              <a:spcAft>
                <a:spcPts val="1000"/>
              </a:spcAft>
              <a:defRPr sz="1500"/>
            </a:pPr>
            <a:r>
              <a:t>The graph features, not the exotic model, carry the signal — and we prove it by running every model on the same folds.</a:t>
            </a:r>
          </a:p>
          <a:p>
            <a:pPr>
              <a:spcAft>
                <a:spcPts val="1000"/>
              </a:spcAft>
              <a:defRPr sz="1500"/>
            </a:pPr>
          </a:p>
          <a:p>
            <a:pPr>
              <a:spcAft>
                <a:spcPts val="1000"/>
              </a:spcAft>
              <a:defRPr sz="1500"/>
            </a:pPr>
            <a:r>
              <a:t>Validated on a real public graph (YelpChi, 45,954 nodes): leakage-gap protocol transfers, measured at +0.022 AUCPR.</a:t>
            </a:r>
          </a:p>
        </p:txBody>
      </p:sp>
      <p:pic>
        <p:nvPicPr>
          <p:cNvPr id="6" name="Picture 5" descr="g4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394960" cy="22411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[COLAB] executed notebook §4/§5/§6b · SMOKE, 3,474 apps, 131 fraud · YelpChi real-graph validation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you can trust the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E86AB"/>
                </a:solidFill>
              </a:defRPr>
            </a:pPr>
            <a:r>
              <a:t>[COLAB + SIM]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342B"/>
                </a:solidFill>
              </a:defRPr>
            </a:pPr>
            <a:r>
              <a:t>Three controls, all passing:</a:t>
            </a:r>
          </a:p>
          <a:p>
            <a:pPr>
              <a:spcAft>
                <a:spcPts val="1000"/>
              </a:spcAft>
              <a:defRPr sz="1400"/>
            </a:pPr>
            <a:r>
              <a:t>   • Shuffled labels → model drops to chance (no memorisation)</a:t>
            </a:r>
          </a:p>
          <a:p>
            <a:pPr>
              <a:spcAft>
                <a:spcPts val="1000"/>
              </a:spcAft>
              <a:defRPr sz="1400"/>
            </a:pPr>
            <a:r>
              <a:t>   • Ring-disjoint CV → test rings never leak into training</a:t>
            </a:r>
          </a:p>
          <a:p>
            <a:pPr>
              <a:spcAft>
                <a:spcPts val="1000"/>
              </a:spcAft>
              <a:defRPr sz="1400"/>
            </a:pPr>
            <a:r>
              <a:t>   • Nested CV → hyperparameters chosen inside inner folds only</a:t>
            </a:r>
          </a:p>
          <a:p>
            <a:pPr>
              <a:spcAft>
                <a:spcPts val="1000"/>
              </a:spcAft>
              <a:defRPr sz="1400"/>
            </a:pPr>
          </a:p>
          <a:p>
            <a:pPr>
              <a:spcAft>
                <a:spcPts val="1000"/>
              </a:spcAft>
              <a:defRPr sz="1400"/>
            </a:pPr>
            <a:r>
              <a:t>A naive split inflates AUCPR by +10% on synthetic, +2.2% on a real graph (YelpChi). We report the harder number.</a:t>
            </a:r>
          </a:p>
          <a:p>
            <a:pPr>
              <a:spcAft>
                <a:spcPts val="1000"/>
              </a:spcAft>
              <a:defRPr sz="1400"/>
            </a:pPr>
          </a:p>
          <a:p>
            <a:pPr>
              <a:spcAft>
                <a:spcPts val="1000"/>
              </a:spcAft>
              <a:defRPr sz="1800" b="1">
                <a:solidFill>
                  <a:srgbClr val="14342B"/>
                </a:solidFill>
              </a:defRPr>
            </a:pPr>
            <a:r>
              <a:t>And we tell you where we fail:</a:t>
            </a:r>
          </a:p>
          <a:p>
            <a:pPr>
              <a:spcAft>
                <a:spcPts val="1000"/>
              </a:spcAft>
              <a:defRPr sz="1400"/>
            </a:pPr>
            <a:r>
              <a:t>Hold out one typology and AUCPR drops to 0.27 — so we flag novel structures (a built-in novelty detector), not claim we understand all rings.</a:t>
            </a:r>
          </a:p>
        </p:txBody>
      </p:sp>
      <p:pic>
        <p:nvPicPr>
          <p:cNvPr id="6" name="Picture 5" descr="g2_lea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394960" cy="31057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[COLAB] leakage gap synthetic +0.100, real +0.022 · typology hold-out 0.27 [REPO]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Before fraud occurs — the measured lead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E86AB"/>
                </a:solidFill>
              </a:defRPr>
            </a:pPr>
            <a:r>
              <a:t>[SIM]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4342B"/>
                </a:solidFill>
              </a:defRPr>
            </a:pPr>
            <a:r>
              <a:t>Trained only on the past, the engine flags 5/9 forming rings before their last application arrives.</a:t>
            </a:r>
          </a:p>
          <a:p>
            <a:pPr>
              <a:spcAft>
                <a:spcPts val="1000"/>
              </a:spcAft>
              <a:defRPr sz="1500"/>
            </a:pPr>
          </a:p>
          <a:p>
            <a:pPr>
              <a:spcAft>
                <a:spcPts val="1000"/>
              </a:spcAft>
              <a:defRPr sz="1500"/>
            </a:pPr>
            <a:r>
              <a:t>   • Strict setting (L4 ≥ 0.70, cluster ≥ 6):</a:t>
            </a:r>
          </a:p>
          <a:p>
            <a:pPr>
              <a:spcAft>
                <a:spcPts val="1000"/>
              </a:spcAft>
              <a:defRPr sz="1500"/>
            </a:pPr>
            <a:r>
              <a:t>     0 false alarms, median lead 204 days (~7 months)</a:t>
            </a:r>
          </a:p>
          <a:p>
            <a:pPr>
              <a:spcAft>
                <a:spcPts val="1000"/>
              </a:spcAft>
              <a:defRPr sz="1500"/>
            </a:pPr>
            <a:r>
              <a:t>   • Loose setting: catches 9/9 at ~5 reviews/week — an honest trade-off, not a magic number</a:t>
            </a:r>
          </a:p>
          <a:p>
            <a:pPr>
              <a:spcAft>
                <a:spcPts val="1000"/>
              </a:spcAft>
              <a:defRPr sz="1500"/>
            </a:pPr>
          </a:p>
          <a:p>
            <a:pPr>
              <a:spcAft>
                <a:spcPts val="1000"/>
              </a:spcAft>
              <a:defRPr sz="1500"/>
            </a:pPr>
            <a:r>
              <a:t>This is literally the problem statement:</a:t>
            </a:r>
          </a:p>
          <a:p>
            <a:pPr>
              <a:spcAft>
                <a:spcPts val="1000"/>
              </a:spcAft>
              <a:defRPr sz="1900" b="1">
                <a:solidFill>
                  <a:srgbClr val="14342B"/>
                </a:solidFill>
              </a:defRPr>
            </a:pPr>
            <a:r>
              <a:t>"predict emerging fraud ecosystems before fraud occurs."</a:t>
            </a:r>
          </a:p>
        </p:txBody>
      </p:sp>
      <p:pic>
        <p:nvPicPr>
          <p:cNvPr id="6" name="Picture 5" descr="g1_lead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394960" cy="25684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[SIM] experiments/lead_time.py · warm-start on first half of timeline, watch second half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Which connection actually carries the risk?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E86AB"/>
                </a:solidFill>
              </a:defRPr>
            </a:pPr>
            <a:r>
              <a:t>[COLAB]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342B"/>
                </a:solidFill>
              </a:defRPr>
            </a:pPr>
            <a:r>
              <a:t>We test every relationship by removing it and measuring what happens:</a:t>
            </a:r>
          </a:p>
          <a:p>
            <a:pPr>
              <a:spcAft>
                <a:spcPts val="1000"/>
              </a:spcAft>
              <a:defRPr sz="1400"/>
            </a:pPr>
          </a:p>
          <a:p>
            <a:pPr>
              <a:spcAft>
                <a:spcPts val="1000"/>
              </a:spcAft>
              <a:defRPr sz="1400"/>
            </a:pPr>
            <a:r>
              <a:t>   • Remove bank-account signal → detection drops most (−0.22 AUCPR)</a:t>
            </a:r>
          </a:p>
          <a:p>
            <a:pPr>
              <a:spcAft>
                <a:spcPts val="1000"/>
              </a:spcAft>
              <a:defRPr sz="1400"/>
            </a:pPr>
            <a:r>
              <a:t>   • Remove device signal → −0.21</a:t>
            </a:r>
          </a:p>
          <a:p>
            <a:pPr>
              <a:spcAft>
                <a:spcPts val="1000"/>
              </a:spcAft>
              <a:defRPr sz="1400"/>
            </a:pPr>
            <a:r>
              <a:t>   • Remove dealer signal → −0.10 (LEAST impact)</a:t>
            </a:r>
          </a:p>
          <a:p>
            <a:pPr>
              <a:spcAft>
                <a:spcPts val="1000"/>
              </a:spcAft>
              <a:defRPr sz="1400"/>
            </a:pPr>
          </a:p>
          <a:p>
            <a:pPr>
              <a:spcAft>
                <a:spcPts val="1000"/>
              </a:spcAft>
              <a:defRPr sz="1800" b="1">
                <a:solidFill>
                  <a:srgbClr val="14342B"/>
                </a:solidFill>
              </a:defRPr>
            </a:pPr>
            <a:r>
              <a:t>The dealer is a conduit, not the cause.</a:t>
            </a:r>
          </a:p>
          <a:p>
            <a:pPr>
              <a:spcAft>
                <a:spcPts val="1000"/>
              </a:spcAft>
              <a:defRPr sz="1400"/>
            </a:pPr>
            <a:r>
              <a:t>   Blocking the dealer changes almost nothing about the ring's detection. Blocking the bank-account link collapses it.</a:t>
            </a:r>
          </a:p>
          <a:p>
            <a:pPr>
              <a:spcAft>
                <a:spcPts val="1000"/>
              </a:spcAft>
              <a:defRPr sz="1400"/>
            </a:pPr>
          </a:p>
          <a:p>
            <a:pPr>
              <a:spcAft>
                <a:spcPts val="1000"/>
              </a:spcAft>
              <a:defRPr sz="1400"/>
            </a:pPr>
            <a:r>
              <a:t>Design consequence: verify the cheap link (account, device), never blanket-block the dealer. This protects genuine rural borrowers.</a:t>
            </a:r>
          </a:p>
        </p:txBody>
      </p:sp>
      <p:pic>
        <p:nvPicPr>
          <p:cNvPr id="6" name="Picture 5" descr="g3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394960" cy="24241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[COLAB] notebook §8a · fixed-param node+graph GBT, ring-disjoint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Ring-vaccination: the cheapest link that breaks the 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E86AB"/>
                </a:solidFill>
              </a:defRPr>
            </a:pPr>
            <a:r>
              <a:t>[SIM]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342B"/>
                </a:solidFill>
              </a:defRPr>
            </a:pPr>
            <a:r>
              <a:t>Score the cluster, not the person.</a:t>
            </a:r>
          </a:p>
          <a:p>
            <a:pPr>
              <a:spcAft>
                <a:spcPts val="1000"/>
              </a:spcAft>
              <a:defRPr sz="1400"/>
            </a:pPr>
            <a:r>
              <a:t>   • Ring-level queue with an evidence case-file per cluster</a:t>
            </a:r>
          </a:p>
          <a:p>
            <a:pPr>
              <a:spcAft>
                <a:spcPts val="1000"/>
              </a:spcAft>
              <a:defRPr sz="1400"/>
            </a:pPr>
            <a:r>
              <a:t>   • Dominant axis shown: device / account / guarantor / burst</a:t>
            </a:r>
          </a:p>
          <a:p>
            <a:pPr>
              <a:spcAft>
                <a:spcPts val="1000"/>
              </a:spcAft>
              <a:defRPr sz="1400"/>
            </a:pPr>
          </a:p>
          <a:p>
            <a:pPr>
              <a:spcAft>
                <a:spcPts val="1000"/>
              </a:spcAft>
              <a:defRPr sz="1800" b="1">
                <a:solidFill>
                  <a:srgbClr val="14342B"/>
                </a:solidFill>
              </a:defRPr>
            </a:pPr>
            <a:r>
              <a:t>Actions are firebreaks — minimal-friction, budget-aware:</a:t>
            </a:r>
          </a:p>
          <a:p>
            <a:pPr>
              <a:spcAft>
                <a:spcPts val="1000"/>
              </a:spcAft>
              <a:defRPr sz="1400"/>
            </a:pPr>
            <a:r>
              <a:t>   • Step-up: verify one disbursement account</a:t>
            </a:r>
          </a:p>
          <a:p>
            <a:pPr>
              <a:spcAft>
                <a:spcPts val="1000"/>
              </a:spcAft>
              <a:defRPr sz="1400"/>
            </a:pPr>
            <a:r>
              <a:t>   • Verify the guarantor pool</a:t>
            </a:r>
          </a:p>
          <a:p>
            <a:pPr>
              <a:spcAft>
                <a:spcPts val="1000"/>
              </a:spcAft>
              <a:defRPr sz="1400"/>
            </a:pPr>
            <a:r>
              <a:t>   • Hold disbursement to one account</a:t>
            </a:r>
          </a:p>
          <a:p>
            <a:pPr>
              <a:spcAft>
                <a:spcPts val="1000"/>
              </a:spcAft>
              <a:defRPr sz="1400"/>
            </a:pPr>
            <a:r>
              <a:t>   • Dealer audit only when implicated by the ablation</a:t>
            </a:r>
          </a:p>
          <a:p>
            <a:pPr>
              <a:spcAft>
                <a:spcPts val="1000"/>
              </a:spcAft>
              <a:defRPr sz="1400"/>
            </a:pPr>
          </a:p>
          <a:p>
            <a:pPr>
              <a:spcAft>
                <a:spcPts val="1000"/>
              </a:spcAft>
              <a:defRPr sz="1400"/>
            </a:pPr>
            <a:r>
              <a:t>Every action maps to a measured signal drop: account −0.22 · device −0.21 · dealer −0.10 (least signal).</a:t>
            </a:r>
          </a:p>
          <a:p>
            <a:pPr>
              <a:spcAft>
                <a:spcPts val="1000"/>
              </a:spcAft>
              <a:defRPr sz="1400"/>
            </a:pPr>
          </a:p>
          <a:p>
            <a:pPr>
              <a:spcAft>
                <a:spcPts val="1000"/>
              </a:spcAft>
              <a:defRPr sz="1400"/>
            </a:pPr>
            <a:r>
              <a:t>Vaccinate the cheapest link. The dealer relationship and honest borrowers stay untouched.</a:t>
            </a:r>
          </a:p>
        </p:txBody>
      </p:sp>
      <p:pic>
        <p:nvPicPr>
          <p:cNvPr id="6" name="Picture 5" descr="g7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394960" cy="25439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[SIM] repo L4 evaluation: all 12 rings flagged at ≥0.5, 83% fraud apps covered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business case — anchored to TVS’s audited books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E86AB"/>
                </a:solidFill>
              </a:defRPr>
            </a:pPr>
            <a:r>
              <a:t>[PUBLIC + A#]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4342B"/>
                </a:solidFill>
              </a:defRPr>
            </a:pPr>
            <a:r>
              <a:t>Year-1 enterprise investment → Year-2 breakeven → Year-3 profit.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Audited anchors (AR Note 18, FY26):</a:t>
            </a:r>
          </a:p>
          <a:p>
            <a:pPr>
              <a:spcAft>
                <a:spcPts val="1000"/>
              </a:spcAft>
              <a:defRPr sz="1100"/>
            </a:pPr>
            <a:r>
              <a:t>   • Target book: Vehicles ₹12,964 cr + CD ₹6,065 cr = ₹19,029 cr</a:t>
            </a:r>
          </a:p>
          <a:p>
            <a:pPr>
              <a:spcAft>
                <a:spcPts val="1000"/>
              </a:spcAft>
              <a:defRPr sz="1100"/>
            </a:pPr>
            <a:r>
              <a:t>   • Target-book NPA: ₹404 cr @ 2.12% · Annual write-offs: ₹437 cr</a:t>
            </a:r>
          </a:p>
          <a:p>
            <a:pPr>
              <a:spcAft>
                <a:spcPts val="1000"/>
              </a:spcAft>
              <a:defRPr sz="1100"/>
            </a:pPr>
            <a:r>
              <a:t>   • Dealer advances: 0.23% NPA — dealers repay (fairness anchor)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Conservative cash trajectory (front-loads full enterprise build in Y1):</a:t>
            </a:r>
          </a:p>
          <a:p>
            <a:pPr>
              <a:spcAft>
                <a:spcPts val="1000"/>
              </a:spcAft>
              <a:defRPr sz="1100"/>
            </a:pPr>
            <a:r>
              <a:t>   • Phase 1 Pilot (0–3 mo): Shadow run on existing cloud, zero capex</a:t>
            </a:r>
          </a:p>
          <a:p>
            <a:pPr>
              <a:spcAft>
                <a:spcPts val="1000"/>
              </a:spcAft>
              <a:defRPr sz="1100"/>
            </a:pPr>
            <a:r>
              <a:t>   • Y1: -₹12 cr (worst-case: ₹9.5 cr full IT build/SOP absorbed in Y1 cash)</a:t>
            </a:r>
          </a:p>
          <a:p>
            <a:pPr>
              <a:spcAft>
                <a:spcPts val="1000"/>
              </a:spcAft>
              <a:defRPr sz="1100"/>
            </a:pPr>
            <a:r>
              <a:t>   • Y2: +₹4 cr (breakeven reached as 52% of dealer book activates)</a:t>
            </a:r>
          </a:p>
          <a:p>
            <a:pPr>
              <a:spcAft>
                <a:spcPts val="1000"/>
              </a:spcAft>
              <a:defRPr sz="1100"/>
            </a:pPr>
            <a:r>
              <a:t>   • Y3: +₹18 cr/yr net recurring profit (₹30 cr fraud saved − ₹12 cr opex)</a:t>
            </a:r>
          </a:p>
          <a:p>
            <a:pPr>
              <a:spcAft>
                <a:spcPts val="1000"/>
              </a:spcAft>
              <a:defRPr sz="1100"/>
            </a:pPr>
            <a:r>
              <a:t>   • Y4-Y5: +₹28 cr/yr (extended to ₹28,111 cr book incl. tractors &amp; PL)</a:t>
            </a:r>
          </a:p>
          <a:p>
            <a:pPr>
              <a:spcAft>
                <a:spcPts val="1000"/>
              </a:spcAft>
              <a:defRPr sz="1100"/>
            </a:pPr>
          </a:p>
          <a:p>
            <a:pPr>
              <a:spcAft>
                <a:spcPts val="1000"/>
              </a:spcAft>
              <a:defRPr sz="1100"/>
            </a:pPr>
            <a:r>
              <a:t>5-Yr Base NPV ₹+39 cr · Upside ₹+64 cr · 89% P(NPV&gt;0) · 4.2× ROI</a:t>
            </a:r>
          </a:p>
        </p:txBody>
      </p:sp>
      <p:pic>
        <p:nvPicPr>
          <p:cNvPr id="6" name="Picture 5" descr="g5_finan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394960" cy="31092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[PUBLIC + A#] PROPOSAL/financial_model.py · audited Note-18 anchors · every assumption labelled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Rural fairness is a feature, not a caveat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E86AB"/>
                </a:solidFill>
              </a:defRPr>
            </a:pPr>
            <a:r>
              <a:t>[PUBLIC + COLAB]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4342B"/>
                </a:solidFill>
              </a:defRPr>
            </a:pPr>
            <a:r>
              <a:t>Creditworthiness ≠ fraud risk.</a:t>
            </a:r>
          </a:p>
          <a:p>
            <a:pPr>
              <a:spcAft>
                <a:spcPts val="1000"/>
              </a:spcAft>
              <a:defRPr sz="1300"/>
            </a:pPr>
            <a:r>
              <a:t>A thin-file honest borrower is not a fraud suspect.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Tested three independent ways, same verdict:</a:t>
            </a:r>
          </a:p>
          <a:p>
            <a:pPr>
              <a:spcAft>
                <a:spcPts val="1000"/>
              </a:spcAft>
              <a:defRPr sz="1300"/>
            </a:pPr>
            <a:r>
              <a:t>   1. TVS’s audited books: dealer advances 0.23% NPA (FY25: 0.37%) — dealers repay.</a:t>
            </a:r>
          </a:p>
          <a:p>
            <a:pPr>
              <a:spcAft>
                <a:spcPts val="1000"/>
              </a:spcAft>
              <a:defRPr sz="1300"/>
            </a:pPr>
            <a:r>
              <a:t>   2. Our ablation: dealer link carries the LEAST detection signal (−0.10 AUCPR).</a:t>
            </a:r>
          </a:p>
          <a:p>
            <a:pPr>
              <a:spcAft>
                <a:spcPts val="1000"/>
              </a:spcAft>
              <a:defRPr sz="1300"/>
            </a:pPr>
            <a:r>
              <a:t>   3. Entity-resolution audit: 34 false merges found → why we never auto-reject on a link alone.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700" b="1">
                <a:solidFill>
                  <a:srgbClr val="14342B"/>
                </a:solidFill>
              </a:defRPr>
            </a:pPr>
            <a:r>
              <a:t>Three tests, one answer: the dealer is the conduit, not the cause.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DPDP 2023: hashed identifiers, no PII in graph edges, purpose-limited. Explainable by construction.</a:t>
            </a:r>
          </a:p>
        </p:txBody>
      </p:sp>
      <p:pic>
        <p:nvPicPr>
          <p:cNvPr id="6" name="Picture 5" descr="g8_dealer_fair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394960" cy="31217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[PUBLIC] audited AR Note 18 · [COLAB] ablation · [REPO] er_in_path.py · DPDP 2023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Roadmap &amp; change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E86AB"/>
                </a:solidFill>
              </a:defRPr>
            </a:pPr>
            <a:r>
              <a:t>[RICE]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342B"/>
                </a:solidFill>
              </a:defRPr>
            </a:pPr>
            <a:r>
              <a:t>Phase 1 (0–3 mo) · Shadow Rollout:</a:t>
            </a:r>
          </a:p>
          <a:p>
            <a:pPr>
              <a:spcAft>
                <a:spcPts val="1000"/>
              </a:spcAft>
              <a:defRPr sz="1400"/>
            </a:pPr>
            <a:r>
              <a:t>One TN two-wheeler region. Backtest lead time on TVS’s own historical rings. NO automated blocking.</a:t>
            </a:r>
          </a:p>
          <a:p>
            <a:pPr>
              <a:spcAft>
                <a:spcPts val="1000"/>
              </a:spcAft>
              <a:defRPr sz="1400"/>
            </a:pPr>
          </a:p>
          <a:p>
            <a:pPr>
              <a:spcAft>
                <a:spcPts val="1000"/>
              </a:spcAft>
              <a:defRPr sz="1400"/>
            </a:pPr>
            <a:r>
              <a:t>Phase 2 (3–6 mo) · Advisory → Active:</a:t>
            </a:r>
          </a:p>
          <a:p>
            <a:pPr>
              <a:spcAft>
                <a:spcPts val="1000"/>
              </a:spcAft>
              <a:defRPr sz="1400"/>
            </a:pPr>
            <a:r>
              <a:t>Link-freezes in underwriting. Analyst console. Dealer-fair scores.</a:t>
            </a:r>
          </a:p>
          <a:p>
            <a:pPr>
              <a:spcAft>
                <a:spcPts val="1000"/>
              </a:spcAft>
              <a:defRPr sz="1400"/>
            </a:pPr>
          </a:p>
          <a:p>
            <a:pPr>
              <a:spcAft>
                <a:spcPts val="1000"/>
              </a:spcAft>
              <a:defRPr sz="1400"/>
            </a:pPr>
            <a:r>
              <a:t>Phase 3 (6–12 mo) · Scale across India:</a:t>
            </a:r>
          </a:p>
          <a:p>
            <a:pPr>
              <a:spcAft>
                <a:spcPts val="1000"/>
              </a:spcAft>
              <a:defRPr sz="1400"/>
            </a:pPr>
            <a:r>
              <a:t>Consumer durable, used car, personal loan, tractor. Adversarial red-team. Fairness monitoring.</a:t>
            </a:r>
          </a:p>
          <a:p>
            <a:pPr>
              <a:spcAft>
                <a:spcPts val="1000"/>
              </a:spcAft>
              <a:defRPr sz="1400"/>
            </a:pPr>
          </a:p>
          <a:p>
            <a:pPr>
              <a:spcAft>
                <a:spcPts val="1000"/>
              </a:spcAft>
              <a:defRPr sz="1800" b="1">
                <a:solidFill>
                  <a:srgbClr val="14342B"/>
                </a:solidFill>
              </a:defRPr>
            </a:pPr>
            <a:r>
              <a:t>Change management:</a:t>
            </a:r>
          </a:p>
          <a:p>
            <a:pPr>
              <a:spcAft>
                <a:spcPts val="1000"/>
              </a:spcAft>
              <a:defRPr sz="1400"/>
            </a:pPr>
            <a:r>
              <a:t>2-week risk-analyst training · dealer SOP · kill-switch + rule fallback · pre-registered success metrics.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Shadow-first rollout per lending-operations practice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Run it yourself — and hold us to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E86AB"/>
                </a:solidFill>
              </a:defRPr>
            </a:pPr>
            <a:r>
              <a:t>[REPO]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342B"/>
                </a:solidFill>
              </a:defRPr>
            </a:pPr>
            <a:r>
              <a:t>30 seconds to reproduce:</a:t>
            </a:r>
          </a:p>
          <a:p>
            <a:pPr>
              <a:spcAft>
                <a:spcPts val="1000"/>
              </a:spcAft>
              <a:defRPr sz="1400"/>
            </a:pPr>
            <a:r>
              <a:t>pip install -r requirements.txt</a:t>
            </a:r>
          </a:p>
          <a:p>
            <a:pPr>
              <a:spcAft>
                <a:spcPts val="1000"/>
              </a:spcAft>
              <a:defRPr sz="1400"/>
            </a:pPr>
            <a:r>
              <a:t>python scripts/run_v1.py --profile SMOKE</a:t>
            </a:r>
          </a:p>
          <a:p>
            <a:pPr>
              <a:spcAft>
                <a:spcPts val="1000"/>
              </a:spcAft>
              <a:defRPr sz="1400"/>
            </a:pPr>
          </a:p>
          <a:p>
            <a:pPr>
              <a:spcAft>
                <a:spcPts val="1000"/>
              </a:spcAft>
              <a:defRPr sz="1400"/>
            </a:pPr>
            <a:r>
              <a:t>Colab notebook with all executed numbers (0.754, GNNs, YelpChi, ablations, leakage audits).</a:t>
            </a:r>
          </a:p>
          <a:p>
            <a:pPr>
              <a:spcAft>
                <a:spcPts val="1000"/>
              </a:spcAft>
              <a:defRPr sz="1400"/>
            </a:pPr>
          </a:p>
          <a:p>
            <a:pPr>
              <a:spcAft>
                <a:spcPts val="1000"/>
              </a:spcAft>
              <a:defRPr sz="1400"/>
            </a:pPr>
            <a:r>
              <a:t>No public dataset has ring-level lending fraud ground truth. Our synthetic pipeline is the only honest way to prove the methodology before TVS validates it on real rings in Phase 1.</a:t>
            </a:r>
          </a:p>
          <a:p>
            <a:pPr>
              <a:spcAft>
                <a:spcPts val="1000"/>
              </a:spcAft>
              <a:defRPr sz="1400"/>
            </a:pPr>
          </a:p>
          <a:p>
            <a:pPr>
              <a:spcAft>
                <a:spcPts val="1000"/>
              </a:spcAft>
              <a:defRPr sz="1400"/>
            </a:pPr>
            <a:r>
              <a:t>Three verified citations (AAAI-21 loan graphs, ICAIF-20 subgraphs, MDPI-25 causal hypergraphs).</a:t>
            </a:r>
          </a:p>
          <a:p>
            <a:pPr>
              <a:spcAft>
                <a:spcPts val="1000"/>
              </a:spcAft>
              <a:defRPr sz="1400"/>
            </a:pPr>
          </a:p>
          <a:p>
            <a:pPr>
              <a:spcAft>
                <a:spcPts val="1000"/>
              </a:spcAft>
              <a:defRPr sz="1800" b="1">
                <a:solidFill>
                  <a:srgbClr val="14342B"/>
                </a:solidFill>
              </a:defRPr>
            </a:pPr>
            <a:r>
              <a:t>Round 3 promise: in the finale, we run the engine live. Every chart on these slides will regenerate in front of you in 30 seconds.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JALE repo  ·  colab/JALE_Colab_Training_ran.ipynb  ·  reports/*.json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